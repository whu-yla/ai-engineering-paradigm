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信息工程 · 范式重构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320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8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新型信息化工程</a:t>
            </a:r>
            <a:endParaRPr lang="en-US" sz="4800" dirty="0"/>
          </a:p>
          <a:p>
            <a:pPr indent="0" marL="0">
              <a:buNone/>
            </a:pPr>
            <a:r>
              <a:rPr lang="en-US" sz="48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生产范式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10972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4747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本地智能体IDE · 云服务器 · 分布式代码版本控制 · 自进化智能体 · 通用大模型 —— 五位一体的融合范式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320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新型生产范式展望</a:t>
            </a:r>
            <a:endParaRPr lang="en-US" sz="12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· 目录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spc="150" kern="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本次分享的三个部分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27939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17320" y="137160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时代背景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软件工程范式的演进历程与传统范式的瓶颈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41448"/>
            <a:ext cx="427939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5786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17320" y="2578608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五大核心支柱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990088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逐一拆解新型范式的五大构成要素与能力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48456"/>
            <a:ext cx="427939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78561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417320" y="3785616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协同生产范式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4197096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端到端工作流与三层协同架构如何运转</a:t>
            </a:r>
            <a:endParaRPr lang="en-US" sz="1400" dirty="0"/>
          </a:p>
        </p:txBody>
      </p:sp>
      <p:pic>
        <p:nvPicPr>
          <p:cNvPr id="16" name="Image 0" descr="images/bg-coding_16x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56632" y="1234440"/>
            <a:ext cx="3630168" cy="351129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" y="47777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新型信息化工程生产范式</a:t>
            </a:r>
            <a:endParaRPr lang="en-US" sz="12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· 01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783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时代背景：范式演进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14800" y="2834640"/>
            <a:ext cx="9144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软件工程生产范式，正经历从「人力密集」到「智能体密集」的根本性跃迁。</a:t>
            </a:r>
            <a:endParaRPr lang="en-US" sz="1800" dirty="0"/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· 范式跃迁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spc="150" kern="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四次范式跃迁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995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每一次跃迁，都把「人」从重复劳动中解放一阶。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工程化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77440" y="228600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40080" y="2880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结构化方法、瀑布模型，软件工程成为独立学科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192024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19659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2128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敏捷化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9120" y="228600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651760" y="2880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迭代交付、以人为本，响应变化重于遵循计划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92024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9659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2128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云原生化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228600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663440" y="2880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DevOps、微服务、CI/CD，交付走向自动化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66560" y="192024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19659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2024+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22128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智能体化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2880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驱动智能体直接编码与决策，人机协同成主流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7777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时代背景</a:t>
            </a:r>
            <a:endParaRPr lang="en-US" sz="12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· 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371600" y="17830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五大核心支柱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14800" y="2834640"/>
            <a:ext cx="9144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五类能力各司其职，又彼此咬合，共同构成新型生产范式的底座。</a:t>
            </a:r>
            <a:endParaRPr lang="en-US" sz="1800" dirty="0"/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五位一体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spc="150" kern="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五位一体的能力底座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995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五大支柱分别覆盖「交互、算力、资产、进化、智能」五个维度，缺一不可。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426464" cy="237744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011680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本地智能体IDE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115214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人机交互的现场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57984" y="1828800"/>
            <a:ext cx="1426464" cy="237744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95144" y="2011680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95144" y="2377440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云服务器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95144" y="2926080"/>
            <a:ext cx="115214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弹性算力与协作枢纽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58768" y="1828800"/>
            <a:ext cx="1426464" cy="2377440"/>
          </a:xfrm>
          <a:prstGeom prst="roundRect">
            <a:avLst>
              <a:gd name="adj" fmla="val 641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95928" y="2011680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95928" y="2377440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分布式版本控制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95928" y="2926080"/>
            <a:ext cx="115214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工程知识资产基线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59552" y="1828800"/>
            <a:ext cx="1426464" cy="237744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96712" y="2011680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96712" y="2377440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自进化智能体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96712" y="2926080"/>
            <a:ext cx="115214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持续变强的执行大脑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60336" y="1828800"/>
            <a:ext cx="1426464" cy="237744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97496" y="2011680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97496" y="2377440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通用大模型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97496" y="2926080"/>
            <a:ext cx="115214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通用智能供给底座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2748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 → 算力 → 资产 → 进化 → 智能，形成闭环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五大核心支柱</a:t>
            </a:r>
            <a:endParaRPr lang="en-US" sz="12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本地智能体IDE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spc="150" kern="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人机交互的现场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45643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在开发者本地运行、以智能体为核心的集成开发环境。智能体可直接读写工程、操作终端、自主规划并完成端到端任务。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456432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377440"/>
            <a:ext cx="54864" cy="1280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468880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299923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低延迟交互、私有数据不出域、深度理解工程上下文。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42816" y="1234440"/>
            <a:ext cx="20482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25696" y="141732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自然语言编程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25696" y="182880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用需求描述驱动代码生成与修改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73952" y="1234440"/>
            <a:ext cx="20482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56832" y="141732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多文件上下文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56832" y="182880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跨文件感知工程结构与依赖关系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42816" y="2971800"/>
            <a:ext cx="20482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25696" y="315468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本地工具调用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25696" y="356616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直接操作终端、构建、测试与调试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73952" y="2971800"/>
            <a:ext cx="20482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56832" y="315468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数据本地留存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56832" y="356616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敏感代码不出域，保障隐私合规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7777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五大核心支柱</a:t>
            </a:r>
            <a:endParaRPr lang="en-US" sz="12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云服务器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spc="150" kern="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弹性算力与协作枢纽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45643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承载弹性算力、CI/CD 流水线与模型推理的云端基础设施。按需供给算力、统一运行环境、全局可达。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456432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377440"/>
            <a:ext cx="54864" cy="1280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468880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299923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按需扩缩、免运维、支撑远程协同与大规模推理。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42816" y="1234440"/>
            <a:ext cx="20482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25696" y="141732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弹性算力调度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25696" y="182880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按负载自动扩缩，峰值无忧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73952" y="1234440"/>
            <a:ext cx="20482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56832" y="141732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自动交付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56832" y="182880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构建、测试、部署全链路自动化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42816" y="2971800"/>
            <a:ext cx="20482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25696" y="315468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模型推理服务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25696" y="356616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统一承载大模型与微服务调用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73952" y="2971800"/>
            <a:ext cx="20482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56832" y="315468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远程开发环境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56832" y="356616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环境一致性，随地接入工程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7777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五大核心支柱</a:t>
            </a:r>
            <a:endParaRPr lang="en-US" sz="12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分布式版本控制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spc="150" kern="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工程知识的资产基线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45643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Git 为代表的去中心化代码与知识资产管理体系。每一次变更可追溯、可回滚、可并行，是团队协作的事实基线。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456432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377440"/>
            <a:ext cx="54864" cy="1280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468880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299923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团队协作基线、工程知识可复用可审计、容灾与回滚保障。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42816" y="1234440"/>
            <a:ext cx="20482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25696" y="141732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分支并行开发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25696" y="182880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多特性并行，互不阻塞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73952" y="1234440"/>
            <a:ext cx="20482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56832" y="141732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变更追溯审计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56832" y="182880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谁、何时、为何改动一目了然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42816" y="2971800"/>
            <a:ext cx="20482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25696" y="315468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工程知识沉淀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25696" y="356616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把经验固化为可复用资产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73952" y="2971800"/>
            <a:ext cx="20482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56832" y="315468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一键回滚容灾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56832" y="356616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故障可快速回到已知良好状态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7777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五大核心支柱</a:t>
            </a:r>
            <a:endParaRPr lang="en-US" sz="12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自进化智能体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spc="150" kern="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持续变强的执行大脑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45643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能依据执行反馈，持续优化自身策略、工具与记忆的智能体。越用越强，最终形成组织级智能资产。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456432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377440"/>
            <a:ext cx="54864" cy="1280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468880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299923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降低重复劳动、累积组织智能、逼近「零维护」自治。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42816" y="1234440"/>
            <a:ext cx="20482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25696" y="141732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经验记忆累积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25696" y="182880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把成功路径沉淀为可复用记忆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73952" y="1234440"/>
            <a:ext cx="20482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56832" y="141732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工具自生成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56832" y="182880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按需创造并复用新工具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42816" y="2971800"/>
            <a:ext cx="20482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25696" y="315468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错误自修复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25696" y="356616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自诊断失败并迭代修正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73952" y="2971800"/>
            <a:ext cx="20482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56832" y="315468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策略迭代优化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56832" y="356616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闭环学习，持续提升成功率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7777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五大核心支柱</a:t>
            </a:r>
            <a:endParaRPr lang="en-US" sz="12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· 通用大模型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spc="150" kern="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通用智能的供给底座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45643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具备通用理解、推理与生成能力的基础大模型，是整个范式的智能供给底座，为智能体提供「大脑」。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456432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377440"/>
            <a:ext cx="54864" cy="1280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468880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299923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通用智能即取即用、降低专用模型成本、跨域能力迁移。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42816" y="1234440"/>
            <a:ext cx="20482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25696" y="141732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代码生成补全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25696" y="182880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从片段到模块的端到端生成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73952" y="1234440"/>
            <a:ext cx="20482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56832" y="141732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文档与用例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56832" y="182880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自动撰写文档、测试与用例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42816" y="2971800"/>
            <a:ext cx="20482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25696" y="315468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复杂推理决策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25696" y="356616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多步推理与任务分解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73952" y="2971800"/>
            <a:ext cx="20482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56832" y="315468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多模态理解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56832" y="356616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图文、界面、日志一并解析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7777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五大核心支柱</a:t>
            </a:r>
            <a:endParaRPr lang="en-US" sz="12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· 03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371600" y="17830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协同生产范式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14800" y="2834640"/>
            <a:ext cx="9144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五大支柱并非简单堆叠，而是通过数据流与反馈闭环，组合成一条端到端的生产链路。</a:t>
            </a:r>
            <a:endParaRPr lang="en-US" sz="1800" dirty="0"/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· 端到端链路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spc="150" kern="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一条端到端的生产链路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995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从需求到上线再回流，五支柱串联成闭环，反馈以「分钟」计。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11430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1031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需求理解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大模型解析意图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246888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11680" y="2011680"/>
            <a:ext cx="11430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21031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智能体编码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24688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本地IDE执行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246888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37560" y="2011680"/>
            <a:ext cx="11430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7560" y="21031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版本提交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4688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分布式分支协作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246888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63440" y="2011680"/>
            <a:ext cx="11430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21031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云端流水线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24688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自动化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06440" y="246888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89320" y="2011680"/>
            <a:ext cx="11430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89320" y="21031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部署上线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89320" y="24688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弹性算力承载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32320" y="246888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15200" y="2011680"/>
            <a:ext cx="1143000" cy="91440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0" y="21031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自进化反馈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24688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闭环回流需求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2291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自进化反馈回流至需求理解与编码，形成持续优化的闭环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7777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协同生产范式</a:t>
            </a:r>
            <a:endParaRPr lang="en-US" sz="12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三层协同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spc="150" kern="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三层协同架构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995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五大支柱映射为三层架构：智能体编排、协作资产、算力模型。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914400" cy="868680"/>
          </a:xfrm>
          <a:prstGeom prst="roundRect">
            <a:avLst>
              <a:gd name="adj" fmla="val 8421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00200" y="18288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8288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本地智能体IDE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77640" y="18288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18288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自进化智能体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18288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8288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任务规划调度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9144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7180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资产层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00200" y="29718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00200" y="29718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分布式版本控制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77640" y="29718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77640" y="29718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工程知识库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55080" y="29718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29718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流水线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914400" cy="868680"/>
          </a:xfrm>
          <a:prstGeom prst="roundRect">
            <a:avLst>
              <a:gd name="adj" fmla="val 8421"/>
            </a:avLst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11480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底座层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600200" y="41148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41148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云服务器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977640" y="41148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77640" y="41148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通用大模型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55080" y="41148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41148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推理与网关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7777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协同生产范式</a:t>
            </a:r>
            <a:endParaRPr lang="en-US" sz="12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写在最后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828800" y="17830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价值与落地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14800" y="2834640"/>
            <a:ext cx="9144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从效率收益、实施路径到风险应对，把范式从「概念」落到「工程」。</a:t>
            </a:r>
            <a:endParaRPr lang="en-US" sz="1800" dirty="0"/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技术路线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spc="150" kern="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BS系统技术栈与服务架构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1234440"/>
            <a:ext cx="177393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23444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Web浏览器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18688" y="1234440"/>
            <a:ext cx="177393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18688" y="123444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移动端H5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65776" y="1234440"/>
            <a:ext cx="177393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65776" y="123444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桌面客户端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12864" y="1234440"/>
            <a:ext cx="177393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12864" y="123444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管理后台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6916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1691640"/>
            <a:ext cx="1773936" cy="384048"/>
          </a:xfrm>
          <a:prstGeom prst="roundRect">
            <a:avLst>
              <a:gd name="adj" fmla="val 11905"/>
            </a:avLst>
          </a:prstGeom>
          <a:solidFill>
            <a:srgbClr val="FFF5EB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71600" y="169164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Nginx负载均衡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18688" y="1691640"/>
            <a:ext cx="1773936" cy="384048"/>
          </a:xfrm>
          <a:prstGeom prst="roundRect">
            <a:avLst>
              <a:gd name="adj" fmla="val 11905"/>
            </a:avLst>
          </a:prstGeom>
          <a:solidFill>
            <a:srgbClr val="FFF5EB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18688" y="169164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HTTPS/SSL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65776" y="1691640"/>
            <a:ext cx="1773936" cy="384048"/>
          </a:xfrm>
          <a:prstGeom prst="roundRect">
            <a:avLst>
              <a:gd name="adj" fmla="val 11905"/>
            </a:avLst>
          </a:prstGeom>
          <a:solidFill>
            <a:srgbClr val="FFF5EB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65776" y="169164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API网关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12864" y="1691640"/>
            <a:ext cx="1773936" cy="384048"/>
          </a:xfrm>
          <a:prstGeom prst="roundRect">
            <a:avLst>
              <a:gd name="adj" fmla="val 11905"/>
            </a:avLst>
          </a:prstGeom>
          <a:solidFill>
            <a:srgbClr val="FFF5EB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12864" y="169164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WAF防火墙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14884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1488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应用服务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71600" y="2148840"/>
            <a:ext cx="140451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371600" y="2148840"/>
            <a:ext cx="140451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用户服务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49270" y="2148840"/>
            <a:ext cx="140451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849270" y="2148840"/>
            <a:ext cx="140451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业务服务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26941" y="2148840"/>
            <a:ext cx="140451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326941" y="2148840"/>
            <a:ext cx="140451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权限服务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04611" y="2148840"/>
            <a:ext cx="140451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804611" y="2148840"/>
            <a:ext cx="140451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文件服务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82282" y="2148840"/>
            <a:ext cx="140451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282282" y="2148840"/>
            <a:ext cx="140451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消息服务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260604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26060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数据中台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371600" y="2606040"/>
            <a:ext cx="1773936" cy="384048"/>
          </a:xfrm>
          <a:prstGeom prst="roundRect">
            <a:avLst>
              <a:gd name="adj" fmla="val 11905"/>
            </a:avLst>
          </a:prstGeom>
          <a:solidFill>
            <a:srgbClr val="FFF5EB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371600" y="260604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数据采集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18688" y="2606040"/>
            <a:ext cx="1773936" cy="384048"/>
          </a:xfrm>
          <a:prstGeom prst="roundRect">
            <a:avLst>
              <a:gd name="adj" fmla="val 11905"/>
            </a:avLst>
          </a:prstGeom>
          <a:solidFill>
            <a:srgbClr val="FFF5EB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218688" y="260604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数据治理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65776" y="2606040"/>
            <a:ext cx="1773936" cy="384048"/>
          </a:xfrm>
          <a:prstGeom prst="roundRect">
            <a:avLst>
              <a:gd name="adj" fmla="val 11905"/>
            </a:avLst>
          </a:prstGeom>
          <a:solidFill>
            <a:srgbClr val="FFF5EB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065776" y="260604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数据分析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12864" y="2606040"/>
            <a:ext cx="1773936" cy="384048"/>
          </a:xfrm>
          <a:prstGeom prst="roundRect">
            <a:avLst>
              <a:gd name="adj" fmla="val 11905"/>
            </a:avLst>
          </a:prstGeom>
          <a:solidFill>
            <a:srgbClr val="FFF5EB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912864" y="260604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数据可视化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306324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30632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中间件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371600" y="3063240"/>
            <a:ext cx="177393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371600" y="306324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Redis缓存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18688" y="3063240"/>
            <a:ext cx="177393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218688" y="306324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💌 RabbitMQ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065776" y="3063240"/>
            <a:ext cx="177393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065776" y="306324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ElasticSearch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12864" y="3063240"/>
            <a:ext cx="177393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912864" y="306324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Nacos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" y="352044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35204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371600" y="3520440"/>
            <a:ext cx="1773936" cy="384048"/>
          </a:xfrm>
          <a:prstGeom prst="roundRect">
            <a:avLst>
              <a:gd name="adj" fmla="val 11905"/>
            </a:avLst>
          </a:prstGeom>
          <a:solidFill>
            <a:srgbClr val="FFF5EB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1371600" y="352044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MySQL集群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218688" y="3520440"/>
            <a:ext cx="1773936" cy="384048"/>
          </a:xfrm>
          <a:prstGeom prst="roundRect">
            <a:avLst>
              <a:gd name="adj" fmla="val 11905"/>
            </a:avLst>
          </a:prstGeom>
          <a:solidFill>
            <a:srgbClr val="FFF5EB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3218688" y="352044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MongoDB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065776" y="3520440"/>
            <a:ext cx="1773936" cy="384048"/>
          </a:xfrm>
          <a:prstGeom prst="roundRect">
            <a:avLst>
              <a:gd name="adj" fmla="val 11905"/>
            </a:avLst>
          </a:prstGeom>
          <a:solidFill>
            <a:srgbClr val="FFF5EB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5065776" y="352044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ClickHouse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912864" y="3520440"/>
            <a:ext cx="1773936" cy="384048"/>
          </a:xfrm>
          <a:prstGeom prst="roundRect">
            <a:avLst>
              <a:gd name="adj" fmla="val 11905"/>
            </a:avLst>
          </a:prstGeom>
          <a:solidFill>
            <a:srgbClr val="FFF5EB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912864" y="352044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MinIO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82980" y="4069080"/>
            <a:ext cx="100584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82980" y="4069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产品经理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988820" y="40690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2217420" y="4069080"/>
            <a:ext cx="100584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17420" y="4069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需求分析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223260" y="40690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3451860" y="4069080"/>
            <a:ext cx="100584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51860" y="4069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UI/UX设计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457700" y="40690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4686300" y="4069080"/>
            <a:ext cx="100584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86300" y="4069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692140" y="40690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5920740" y="4069080"/>
            <a:ext cx="100584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20740" y="4069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926580" y="40690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7155180" y="4069080"/>
            <a:ext cx="100584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55180" y="4069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457200" y="47777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价值与落地</a:t>
            </a:r>
            <a:endParaRPr lang="en-US" sz="1200" dirty="0"/>
          </a:p>
        </p:txBody>
      </p:sp>
      <p:sp>
        <p:nvSpPr>
          <p:cNvPr id="8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· 从0开始 Vibe Coding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spc="150" kern="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从0开始的 Vibe Coding SOP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051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984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280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需求拆解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5727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用自然语言描述产品目标，让智能体拆解为可执行的功能模块。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88720" y="1901952"/>
            <a:ext cx="3108960" cy="292608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190195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需求必须具体可验证，避免模糊描述。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54864" cy="1051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984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94960" y="1280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架构约定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94960" y="15727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明确技术栈、目录结构与代码规范，写入项目文档供智能体遵循。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0" y="1901952"/>
            <a:ext cx="3108960" cy="292608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190195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不先约定架构，智能体会自行发挥导致技术栈混乱。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350008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350008"/>
            <a:ext cx="54864" cy="1051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45973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88720" y="24414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增量编码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27340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按模块逐步生成，每次只聚焦一个功能点，小步快跑。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88720" y="3063240"/>
            <a:ext cx="3108960" cy="292608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4" name="Text 22"/>
          <p:cNvSpPr/>
          <p:nvPr/>
        </p:nvSpPr>
        <p:spPr>
          <a:xfrm>
            <a:off x="1234440" y="30632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一次性生成全部代码，出错后难以定位和回滚。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2350008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350008"/>
            <a:ext cx="54864" cy="1051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45973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94960" y="24414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即时验证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94960" y="27340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每生成一个模块立即运行测试，确保可用再继续下一步。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94960" y="3063240"/>
            <a:ext cx="3108960" cy="292608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1" name="Text 29"/>
          <p:cNvSpPr/>
          <p:nvPr/>
        </p:nvSpPr>
        <p:spPr>
          <a:xfrm>
            <a:off x="5440680" y="30632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跳过验证堆积到最后，bug成本指数级上升。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3511296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511296"/>
            <a:ext cx="54864" cy="1051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6210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88720" y="36027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版本提交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88720" y="38953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每个可用模块即时commit，写清变更说明，保留回滚能力。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88720" y="4224528"/>
            <a:ext cx="3108960" cy="292608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8" name="Text 36"/>
          <p:cNvSpPr/>
          <p:nvPr/>
        </p:nvSpPr>
        <p:spPr>
          <a:xfrm>
            <a:off x="1234440" y="42245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不提交版本，智能体改坏了无法回退到可用状态。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63440" y="3511296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511296"/>
            <a:ext cx="54864" cy="1051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6210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394960" y="36027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人工把关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394960" y="38953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关键逻辑和安全相关代码必须人工Review，不可全权交给智能体。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394960" y="4224528"/>
            <a:ext cx="3108960" cy="292608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45" name="Text 43"/>
          <p:cNvSpPr/>
          <p:nvPr/>
        </p:nvSpPr>
        <p:spPr>
          <a:xfrm>
            <a:off x="5440680" y="42245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盲目信任智能体输出，安全漏洞与逻辑错误会被掩盖。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47777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价值与落地</a:t>
            </a:r>
            <a:endParaRPr lang="en-US" sz="1200" dirty="0"/>
          </a:p>
        </p:txBody>
      </p:sp>
      <p:sp>
        <p:nvSpPr>
          <p:cNvPr id="4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实施路径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spc="150" kern="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四阶段实施路线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7432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08760"/>
            <a:ext cx="1645920" cy="365760"/>
          </a:xfrm>
          <a:prstGeom prst="roundRect">
            <a:avLst>
              <a:gd name="adj" fmla="val 37500"/>
            </a:avLst>
          </a:prstGeom>
          <a:solidFill>
            <a:srgbClr val="2A3A6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试点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单点引入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引入智能体IDE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接入通用大模型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建立试点项目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137160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97480" y="1508760"/>
            <a:ext cx="1645920" cy="365760"/>
          </a:xfrm>
          <a:prstGeom prst="roundRect">
            <a:avLst>
              <a:gd name="adj" fmla="val 37500"/>
            </a:avLst>
          </a:prstGeom>
          <a:solidFill>
            <a:srgbClr val="E0E7FF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508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集成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链路打通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9748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接入云服务器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版本控制规范化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打通CI/CD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508760"/>
            <a:ext cx="1645920" cy="365760"/>
          </a:xfrm>
          <a:prstGeom prst="roundRect">
            <a:avLst>
              <a:gd name="adj" fmla="val 37500"/>
            </a:avLst>
          </a:prstGeom>
          <a:solidFill>
            <a:srgbClr val="E0E7FF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508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· 自治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1965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闭环进化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80060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部署自进化智能体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构建知识沉淀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形成反馈闭环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66560" y="137160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03720" y="1508760"/>
            <a:ext cx="1645920" cy="365760"/>
          </a:xfrm>
          <a:prstGeom prst="roundRect">
            <a:avLst>
              <a:gd name="adj" fmla="val 37500"/>
            </a:avLst>
          </a:prstGeom>
          <a:solidFill>
            <a:srgbClr val="E0E7FF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508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· 范式化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1965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规模复用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90372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组织级智能体平台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0372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智能资产规模化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0372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持续自运营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47777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价值与落地</a:t>
            </a:r>
            <a:endParaRPr lang="en-US" sz="12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· 挑战与应对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spc="150" kern="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三类核心挑战及应对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智能体可靠性 · 幻觉与错误决策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应对：人机协同把关 + 版本控制回滚兜底，关键决策保留人工确认节点。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8229600" cy="10058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23160"/>
            <a:ext cx="54864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数据安全与合规 · 代码与知识上云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应对：本地IDE保留敏感数据 + 分级授权 + 私有化模型部署，建立数据出境边界。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566160"/>
            <a:ext cx="54864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03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工程文化转型 · 从「写代码」到「编排智能体」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应对：建立智能体协作规范与度量体系，重塑工程师角色与能力模型。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7777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价值与落地</a:t>
            </a:r>
            <a:endParaRPr lang="en-US" sz="120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· 总结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spc="150" kern="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三句话总结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45720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范式本质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82880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从「人力驱动」转向「智能体驱动」，人负责编排与决策，智能体负责执行与进化。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68880"/>
            <a:ext cx="45720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五位一体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9260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五大支柱咬合形成数据闭环，让生产越跑越快、越用越强，反馈以分钟计。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66160"/>
            <a:ext cx="45720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71600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落地关键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0233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以版本控制为基线、以自进化为引擎，逐步构建组织级智能资产，而非一步到位。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7777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价值与落地</a:t>
            </a:r>
            <a:endParaRPr lang="en-US" sz="12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让智能体成为生产力，让工程师回归创造。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新型信息化工程生产范式  ·  2026</a:t>
            </a:r>
            <a:endParaRPr lang="en-US" sz="12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新型信息化工程生产范式</dc:title>
  <dc:subject>本地智能体IDE+云服务器+分布式代码版本控制+自进化智能体+通用大模型</dc:subject>
  <dc:creator>Trae</dc:creator>
  <cp:lastModifiedBy>Trae</cp:lastModifiedBy>
  <cp:revision>1</cp:revision>
  <dcterms:created xsi:type="dcterms:W3CDTF">2026-07-23T14:10:07Z</dcterms:created>
  <dcterms:modified xsi:type="dcterms:W3CDTF">2026-07-23T14:10:07Z</dcterms:modified>
</cp:coreProperties>
</file>