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>
              <a:alpha val="5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信息工程 · 范式重构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0" y="32004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800" b="1" spc="2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新型信息化工程</a:t>
            </a:r>
            <a:endParaRPr lang="en-US" sz="4800" dirty="0"/>
          </a:p>
          <a:p>
            <a:pPr indent="0" marL="0">
              <a:buNone/>
            </a:pPr>
            <a:r>
              <a:rPr lang="en-US" sz="4800" b="1" spc="25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生产范式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457200" y="3291840"/>
            <a:ext cx="109728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4747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本地智能体IDE · 云服务器 · 分布式代码版本控制 · 自进化智能体 · 通用大模型 —— 五位一体的融合范式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320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新型生产范式展望</a:t>
            </a:r>
            <a:endParaRPr lang="en-US" sz="1200" dirty="0"/>
          </a:p>
        </p:txBody>
      </p:sp>
      <p:sp>
        <p:nvSpPr>
          <p:cNvPr id="9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 · 目录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本次分享的三个部分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279392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37160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417320" y="1371600"/>
            <a:ext cx="3090672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时代背景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软件工程范式的演进历程与传统范式的瓶颈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441448"/>
            <a:ext cx="4279392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257860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17320" y="2578608"/>
            <a:ext cx="3090672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五大核心支柱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逐一拆解新型范式的五大构成要素与能力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648456"/>
            <a:ext cx="4279392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785616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417320" y="3785616"/>
            <a:ext cx="3090672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协同生产范式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4197096"/>
            <a:ext cx="3090672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端到端工作流与三层协同架构如何运转</a:t>
            </a:r>
            <a:endParaRPr lang="en-US" sz="1400" dirty="0"/>
          </a:p>
        </p:txBody>
      </p:sp>
      <p:pic>
        <p:nvPicPr>
          <p:cNvPr id="16" name="Image 0" descr="images/bg-coding_16x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56632" y="1234440"/>
            <a:ext cx="3630168" cy="351129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新型信息化工程生产范式</a:t>
            </a:r>
            <a:endParaRPr lang="en-US" sz="1200" dirty="0"/>
          </a:p>
        </p:txBody>
      </p:sp>
      <p:sp>
        <p:nvSpPr>
          <p:cNvPr id="18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· 01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14400" y="178308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时代背景：范式演进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114800" y="2834640"/>
            <a:ext cx="914400" cy="3657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软件工程生产范式，正经历从「人力密集」到「智能体密集」的根本性跃迁。</a:t>
            </a:r>
            <a:endParaRPr lang="en-US" sz="1800" dirty="0"/>
          </a:p>
        </p:txBody>
      </p:sp>
      <p:sp>
        <p:nvSpPr>
          <p:cNvPr id="6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· 范式跃迁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四次范式跃迁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69951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每一次跃迁，都把「人」从重复劳动中解放一阶。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6596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1968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21284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工程化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377440" y="2286000"/>
            <a:ext cx="36576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40080" y="28803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结构化方法、瀑布模型，软件工程成为独立学科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0" y="192024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43200" y="196596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221284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敏捷化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6576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651760" y="28803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迭代交付、以人为本，响应变化重于遵循计划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192024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54880" y="196596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2009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754880" y="221284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云原生化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0" y="2286000"/>
            <a:ext cx="36576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663440" y="28803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DevOps、微服务、CI/CD，交付走向自动化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766560" y="192024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F97316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766560" y="196596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2024+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66560" y="221284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智能体化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28803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驱动智能体直接编码与决策，人机协同成主流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时代背景</a:t>
            </a:r>
            <a:endParaRPr lang="en-US" sz="1200" dirty="0"/>
          </a:p>
        </p:txBody>
      </p:sp>
      <p:sp>
        <p:nvSpPr>
          <p:cNvPr id="25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Points · 瓶颈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传统生产范式的四大瓶颈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77640" cy="168021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397764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知识不可沉淀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3429000" cy="85725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经验停留在个人，项目结束即流失，无法沉淀为组织级工程资产。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77640" cy="168021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371600"/>
            <a:ext cx="397764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983480" y="1737360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协作成本高昂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983480" y="2194560"/>
            <a:ext cx="3429000" cy="85725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上下文反复同步、评审依赖人肉对齐，跨团队协作损耗巨大。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280410"/>
            <a:ext cx="3977640" cy="168021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280410"/>
            <a:ext cx="397764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646170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质量依赖个体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1520" y="4103370"/>
            <a:ext cx="3429000" cy="85725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强依赖资深工程师，质量与速度难以兼得，规模扩张即触天花板。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709160" y="3280410"/>
            <a:ext cx="3977640" cy="168021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3280410"/>
            <a:ext cx="3977640" cy="5486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8" name="Text 16"/>
          <p:cNvSpPr/>
          <p:nvPr/>
        </p:nvSpPr>
        <p:spPr>
          <a:xfrm>
            <a:off x="4983480" y="3646170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 迭代反馈迟滞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983480" y="4103370"/>
            <a:ext cx="3429000" cy="85725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从需求到上线链路冗长，反馈回路以「天 / 周」计，难以快速试错。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时代背景</a:t>
            </a:r>
            <a:endParaRPr lang="en-US" sz="1200" dirty="0"/>
          </a:p>
        </p:txBody>
      </p:sp>
      <p:sp>
        <p:nvSpPr>
          <p:cNvPr id="2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· 02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371600" y="17830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五大核心支柱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114800" y="2834640"/>
            <a:ext cx="914400" cy="3657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五类能力各司其职，又彼此咬合，共同构成新型生产范式的底座。</a:t>
            </a:r>
            <a:endParaRPr lang="en-US" sz="1800" dirty="0"/>
          </a:p>
        </p:txBody>
      </p:sp>
      <p:sp>
        <p:nvSpPr>
          <p:cNvPr id="6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· 五位一体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五位一体的能力底座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69951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五大支柱分别覆盖「交互、算力、资产、进化、智能」五个维度，缺一不可。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426464" cy="237744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2011680"/>
            <a:ext cx="115214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本地智能体IDE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292608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人机交互的现场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57984" y="1828800"/>
            <a:ext cx="1426464" cy="237744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95144" y="2011680"/>
            <a:ext cx="115214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95144" y="2377440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云服务器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295144" y="292608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弹性算力与协作枢纽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858768" y="1828800"/>
            <a:ext cx="1426464" cy="2377440"/>
          </a:xfrm>
          <a:prstGeom prst="roundRect">
            <a:avLst>
              <a:gd name="adj" fmla="val 641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203200" dist="76200" dir="8100000">
              <a:srgbClr val="000000">
                <a:alpha val="3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995928" y="2011680"/>
            <a:ext cx="115214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995928" y="2377440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分布式版本控制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995928" y="292608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工程知识资产基线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559552" y="1828800"/>
            <a:ext cx="1426464" cy="237744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696712" y="2011680"/>
            <a:ext cx="115214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96712" y="2377440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自进化智能体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696712" y="292608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持续变强的执行大脑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260336" y="1828800"/>
            <a:ext cx="1426464" cy="237744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97496" y="2011680"/>
            <a:ext cx="1152144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97496" y="2377440"/>
            <a:ext cx="1152144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通用大模型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97496" y="2926080"/>
            <a:ext cx="1152144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通用智能供给底座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2748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交互 → 算力 → 资产 → 进化 → 智能，形成闭环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五大核心支柱</a:t>
            </a:r>
            <a:endParaRPr lang="en-US" sz="1200" dirty="0"/>
          </a:p>
        </p:txBody>
      </p:sp>
      <p:sp>
        <p:nvSpPr>
          <p:cNvPr id="27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本地智能体IDE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人机交互的现场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45643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在开发者本地运行、以智能体为核心的集成开发环境。智能体可直接读写工程、操作终端、自主规划并完成端到端任务。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456432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377440"/>
            <a:ext cx="54864" cy="12801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68880"/>
            <a:ext cx="29992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核心价值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299923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低延迟交互、私有数据不出域、深度理解工程上下文。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42816" y="123444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25696" y="1417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自然语言编程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25696" y="182880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用需求描述驱动代码生成与修改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73952" y="123444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56832" y="1417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多文件上下文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56832" y="182880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跨文件感知工程结构与依赖关系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42816" y="297180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25696" y="31546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本地工具调用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25696" y="356616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直接操作终端、构建、测试与调试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97180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56832" y="31546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数据本地留存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56832" y="356616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敏感代码不出域，保障隐私合规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五大核心支柱</a:t>
            </a:r>
            <a:endParaRPr lang="en-US" sz="1200" dirty="0"/>
          </a:p>
        </p:txBody>
      </p:sp>
      <p:sp>
        <p:nvSpPr>
          <p:cNvPr id="22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云服务器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弹性算力与协作枢纽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45643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承载弹性算力、CI/CD 流水线与模型推理的云端基础设施。按需供给算力、统一运行环境、全局可达。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456432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377440"/>
            <a:ext cx="54864" cy="12801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68880"/>
            <a:ext cx="29992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核心价值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299923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按需扩缩、免运维、支撑远程协同与大规模推理。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42816" y="123444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25696" y="1417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弹性算力调度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25696" y="182880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按负载自动扩缩，峰值无忧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73952" y="123444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56832" y="1417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自动交付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56832" y="182880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构建、测试、部署全链路自动化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42816" y="297180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25696" y="31546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模型推理服务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25696" y="356616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统一承载大模型与微服务调用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97180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56832" y="31546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远程开发环境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56832" y="356616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环境一致性，随地接入工程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五大核心支柱</a:t>
            </a:r>
            <a:endParaRPr lang="en-US" sz="1200" dirty="0"/>
          </a:p>
        </p:txBody>
      </p:sp>
      <p:sp>
        <p:nvSpPr>
          <p:cNvPr id="22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分布式版本控制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工程知识的资产基线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45643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 Git 为代表的去中心化代码与知识资产管理体系。每一次变更可追溯、可回滚、可并行，是团队协作的事实基线。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456432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377440"/>
            <a:ext cx="54864" cy="12801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68880"/>
            <a:ext cx="29992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核心价值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299923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团队协作基线、工程知识可复用可审计、容灾与回滚保障。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42816" y="123444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25696" y="1417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分支并行开发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25696" y="182880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多特性并行，互不阻塞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73952" y="123444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56832" y="1417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变更追溯审计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56832" y="182880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谁、何时、为何改动一目了然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42816" y="297180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25696" y="31546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工程知识沉淀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25696" y="356616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把经验固化为可复用资产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97180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56832" y="31546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一键回滚容灾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56832" y="356616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故障可快速回到已知良好状态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五大核心支柱</a:t>
            </a:r>
            <a:endParaRPr lang="en-US" sz="1200" dirty="0"/>
          </a:p>
        </p:txBody>
      </p:sp>
      <p:sp>
        <p:nvSpPr>
          <p:cNvPr id="22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· 自进化智能体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持续变强的执行大脑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45643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能依据执行反馈，持续优化自身策略、工具与记忆的智能体。越用越强，最终形成组织级智能资产。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456432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377440"/>
            <a:ext cx="54864" cy="12801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68880"/>
            <a:ext cx="29992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核心价值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299923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降低重复劳动、累积组织智能、逼近「零维护」自治。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42816" y="123444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25696" y="1417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经验记忆累积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25696" y="182880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把成功路径沉淀为可复用记忆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73952" y="123444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56832" y="1417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工具自生成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56832" y="182880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按需创造并复用新工具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42816" y="297180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25696" y="31546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错误自修复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25696" y="356616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自诊断失败并迭代修正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97180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56832" y="31546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策略迭代优化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56832" y="356616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闭环学习，持续提升成功率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五大核心支柱</a:t>
            </a:r>
            <a:endParaRPr lang="en-US" sz="1200" dirty="0"/>
          </a:p>
        </p:txBody>
      </p:sp>
      <p:sp>
        <p:nvSpPr>
          <p:cNvPr id="22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P5 · 通用大模型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通用智能的供给底座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456432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具备通用理解、推理与生成能力的基础大模型，是整个范式的智能供给底座，为智能体提供「大脑」。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3456432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2377440"/>
            <a:ext cx="54864" cy="128016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2468880"/>
            <a:ext cx="2999232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核心价值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85800" y="2788920"/>
            <a:ext cx="299923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通用智能即取即用、降低专用模型成本、跨域能力迁移。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42816" y="123444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25696" y="1417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代码生成补全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425696" y="182880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从片段到模块的端到端生成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73952" y="123444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56832" y="141732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文档与用例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56832" y="182880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自动撰写文档、测试与用例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242816" y="297180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25696" y="31546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复杂推理决策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425696" y="356616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多步推理与任务分解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73952" y="2971800"/>
            <a:ext cx="2048256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56832" y="3154680"/>
            <a:ext cx="168249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多模态理解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56832" y="3566160"/>
            <a:ext cx="1682496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图文、界面、日志一并解析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五大核心支柱</a:t>
            </a:r>
            <a:endParaRPr lang="en-US" sz="1200" dirty="0"/>
          </a:p>
        </p:txBody>
      </p:sp>
      <p:sp>
        <p:nvSpPr>
          <p:cNvPr id="22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· 03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371600" y="17830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协同生产范式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114800" y="2834640"/>
            <a:ext cx="914400" cy="3657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五大支柱并非简单堆叠，而是通过数据流与反馈闭环，组合成一条端到端的生产链路。</a:t>
            </a:r>
            <a:endParaRPr lang="en-US" sz="1800" dirty="0"/>
          </a:p>
        </p:txBody>
      </p:sp>
      <p:sp>
        <p:nvSpPr>
          <p:cNvPr id="6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· 端到端链路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一条端到端的生产链路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69951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从需求到上线再回流，五支柱串联成闭环，反馈以「分钟」计。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11430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210312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需求理解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46888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大模型解析意图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28800" y="246888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011680" y="2011680"/>
            <a:ext cx="11430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11680" y="210312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智能体编码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011680" y="246888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本地IDE执行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54680" y="246888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337560" y="2011680"/>
            <a:ext cx="11430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337560" y="210312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版本提交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37560" y="246888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分布式分支协作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480560" y="246888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663440" y="2011680"/>
            <a:ext cx="11430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663440" y="210312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云端流水线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246888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自动化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06440" y="246888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989320" y="2011680"/>
            <a:ext cx="1143000" cy="9144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89320" y="210312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部署上线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89320" y="246888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弹性算力承载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0" y="2468880"/>
            <a:ext cx="18288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15200" y="2011680"/>
            <a:ext cx="1143000" cy="914400"/>
          </a:xfrm>
          <a:prstGeom prst="roundRect">
            <a:avLst>
              <a:gd name="adj" fmla="val 10000"/>
            </a:avLst>
          </a:prstGeom>
          <a:solidFill>
            <a:srgbClr val="F97316"/>
          </a:solidFill>
          <a:ln/>
          <a:effectLst>
            <a:outerShdw sx="100000" sy="100000" kx="0" ky="0" algn="bl" rotWithShape="0" blurRad="203200" dist="76200" dir="8100000">
              <a:srgbClr val="000000">
                <a:alpha val="3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15200" y="2103120"/>
            <a:ext cx="1143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自进化反馈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0" y="2468880"/>
            <a:ext cx="1143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闭环回流需求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42291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自进化反馈回流至需求理解与编码，形成持续优化的闭环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协同生产范式</a:t>
            </a:r>
            <a:endParaRPr lang="en-US" sz="1200" dirty="0"/>
          </a:p>
        </p:txBody>
      </p:sp>
      <p:sp>
        <p:nvSpPr>
          <p:cNvPr id="30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三层协同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三层协同架构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699516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五大支柱映射为三层架构：智能体编排、协作资产、算力模型。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914400" cy="868680"/>
          </a:xfrm>
          <a:prstGeom prst="roundRect">
            <a:avLst>
              <a:gd name="adj" fmla="val 8421"/>
            </a:avLst>
          </a:prstGeom>
          <a:solidFill>
            <a:srgbClr val="1E3A5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82880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编排层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00200" y="18288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18288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本地智能体IDE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77640" y="18288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77640" y="18288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自进化智能体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55080" y="18288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8288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任务规划调度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91440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97180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资产层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600200" y="29718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600200" y="29718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分布式版本控制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977640" y="29718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977640" y="29718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工程知识库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355080" y="29718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55080" y="29718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流水线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914400" cy="868680"/>
          </a:xfrm>
          <a:prstGeom prst="roundRect">
            <a:avLst>
              <a:gd name="adj" fmla="val 8421"/>
            </a:avLst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114800"/>
            <a:ext cx="91440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底座层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600200" y="41148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600200" y="41148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云服务器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977640" y="41148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77640" y="41148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通用大模型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355080" y="4114800"/>
            <a:ext cx="2194560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55080" y="4114800"/>
            <a:ext cx="21945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推理与网关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协同生产范式</a:t>
            </a:r>
            <a:endParaRPr lang="en-US" sz="1200" dirty="0"/>
          </a:p>
        </p:txBody>
      </p:sp>
      <p:sp>
        <p:nvSpPr>
          <p:cNvPr id="30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0" y="13716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· 04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828800" y="1783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价值与落地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114800" y="2834640"/>
            <a:ext cx="914400" cy="36576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0175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从效率收益、实施路径到风险应对，把范式从「概念」落到「工程」。</a:t>
            </a:r>
            <a:endParaRPr lang="en-US" sz="1800" dirty="0"/>
          </a:p>
        </p:txBody>
      </p:sp>
      <p:sp>
        <p:nvSpPr>
          <p:cNvPr id="6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vs After · 范式对比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传统范式 vs 新型范式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7764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25880"/>
            <a:ext cx="397764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传统范式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0574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人力密集，人主导执行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49631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经验难沉淀，随人流失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935224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协作靠口头同步与对齐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374136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质量依赖资深个体把关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81304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反馈回路以「天 / 周」计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709160" y="1325880"/>
            <a:ext cx="3977640" cy="3017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1325880"/>
            <a:ext cx="3977640" cy="54864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508760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新型范式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983480" y="2057400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智能体密集，人负责编排决策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83480" y="2496312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知识资产化，可复用可累积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983480" y="2935224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协作靠版本基线与知识库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374136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质量靠智能体评审 + 自修复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83480" y="381304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反馈回路以「分钟」计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251960" y="25603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价值与落地</a:t>
            </a:r>
            <a:endParaRPr lang="en-US" sz="1200" dirty="0"/>
          </a:p>
        </p:txBody>
      </p:sp>
      <p:sp>
        <p:nvSpPr>
          <p:cNvPr id="22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· 效率跃迁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范式带来的效率跃迁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851660" cy="256032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14859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spc="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编码效率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4859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↑5x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971800"/>
            <a:ext cx="14859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智能体端到端编码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83180" y="1417320"/>
            <a:ext cx="1851660" cy="256032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66060" y="1691640"/>
            <a:ext cx="14859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spc="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交付周期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66060" y="2103120"/>
            <a:ext cx="14859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↓60%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2766060" y="2971800"/>
            <a:ext cx="14859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端到端自动化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1851660" cy="256032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892040" y="1691640"/>
            <a:ext cx="14859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spc="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缺陷率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92040" y="2103120"/>
            <a:ext cx="14859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↓40%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4892040" y="2971800"/>
            <a:ext cx="14859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评审 + 自修复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35140" y="1417320"/>
            <a:ext cx="1851660" cy="2560320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018020" y="1691640"/>
            <a:ext cx="14859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spc="5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知识复用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18020" y="2103120"/>
            <a:ext cx="14859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↑10x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7018020" y="2971800"/>
            <a:ext cx="148590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资产化沉淀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44119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典型场景下的相对提升参考值，实际收益随成熟度递增。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价值与落地</a:t>
            </a:r>
            <a:endParaRPr lang="en-US" sz="1200" dirty="0"/>
          </a:p>
        </p:txBody>
      </p:sp>
      <p:sp>
        <p:nvSpPr>
          <p:cNvPr id="22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实施路径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四阶段实施路线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920240" cy="27432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508760"/>
            <a:ext cx="1645920" cy="365760"/>
          </a:xfrm>
          <a:prstGeom prst="roundRect">
            <a:avLst>
              <a:gd name="adj" fmla="val 37500"/>
            </a:avLst>
          </a:prstGeom>
          <a:solidFill>
            <a:srgbClr val="2A3A6B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508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· 试点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1965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单点引入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23774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引入智能体IDE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接入通用大模型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200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建立试点项目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97480" y="1508760"/>
            <a:ext cx="1645920" cy="365760"/>
          </a:xfrm>
          <a:prstGeom prst="roundRect">
            <a:avLst>
              <a:gd name="adj" fmla="val 37500"/>
            </a:avLst>
          </a:prstGeom>
          <a:solidFill>
            <a:srgbClr val="E0E7FF"/>
          </a:solidFill>
          <a:ln/>
        </p:spPr>
      </p:sp>
      <p:sp>
        <p:nvSpPr>
          <p:cNvPr id="13" name="Text 11"/>
          <p:cNvSpPr/>
          <p:nvPr/>
        </p:nvSpPr>
        <p:spPr>
          <a:xfrm>
            <a:off x="2697480" y="1508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· 集成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697480" y="1965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链路打通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697480" y="23774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接入云服务器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69748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版本控制规范化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3200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打通CI/CD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137160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0600" y="1508760"/>
            <a:ext cx="1645920" cy="365760"/>
          </a:xfrm>
          <a:prstGeom prst="roundRect">
            <a:avLst>
              <a:gd name="adj" fmla="val 37500"/>
            </a:avLst>
          </a:prstGeom>
          <a:solidFill>
            <a:srgbClr val="E0E7FF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1508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 · 自治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00600" y="1965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闭环进化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800600" y="23774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部署自进化智能体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0060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构建知识沉淀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3200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形成反馈闭环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766560" y="1371600"/>
            <a:ext cx="192024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903720" y="1508760"/>
            <a:ext cx="1645920" cy="365760"/>
          </a:xfrm>
          <a:prstGeom prst="roundRect">
            <a:avLst>
              <a:gd name="adj" fmla="val 37500"/>
            </a:avLst>
          </a:prstGeom>
          <a:solidFill>
            <a:srgbClr val="E0E7FF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15087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· 范式化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903720" y="1965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规模复用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903720" y="23774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组织级智能体平台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903720" y="27889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智能资产规模化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903720" y="3200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持续自运营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47777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价值与落地</a:t>
            </a:r>
            <a:endParaRPr lang="en-US" sz="1200" dirty="0"/>
          </a:p>
        </p:txBody>
      </p:sp>
      <p:sp>
        <p:nvSpPr>
          <p:cNvPr id="33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 · 总结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400" b="1" spc="150" kern="0" dirty="0">
                <a:solidFill>
                  <a:srgbClr val="1F29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三句话总结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solidFill>
            <a:srgbClr val="1A2050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371600"/>
            <a:ext cx="45720" cy="9144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08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371600" y="1508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范式本质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82880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从「人力驱动」转向「智能体驱动」，人负责编排与决策，智能体负责执行与进化。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8229600" cy="914400"/>
          </a:xfrm>
          <a:prstGeom prst="rect">
            <a:avLst/>
          </a:prstGeom>
          <a:solidFill>
            <a:srgbClr val="1A2050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468880"/>
            <a:ext cx="45720" cy="9144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06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371600" y="2606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五位一体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371600" y="292608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五大支柱咬合形成数据闭环，让生产越跑越快、越用越强，反馈以分钟计。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8229600" cy="914400"/>
          </a:xfrm>
          <a:prstGeom prst="rect">
            <a:avLst/>
          </a:prstGeom>
          <a:solidFill>
            <a:srgbClr val="1A2050"/>
          </a:solidFill>
          <a:ln/>
          <a:effectLst>
            <a:outerShdw sx="100000" sy="100000" kx="0" ky="0" algn="bl" rotWithShape="0" blurRad="152400" dist="50800" dir="81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566160"/>
            <a:ext cx="45720" cy="9144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703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371600" y="3703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落地关键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402336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以版本控制为基线、以自进化为引擎，逐步构建组织级智能资产，而非一步到位。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43205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让智能体成为生产力，让工程师回归创造。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46405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</a:t>
            </a:r>
            <a:endParaRPr lang="en-US" sz="1400" dirty="0"/>
          </a:p>
        </p:txBody>
      </p:sp>
      <p:sp>
        <p:nvSpPr>
          <p:cNvPr id="21" name="Watermark"/>
          <p:cNvSpPr txBox="1"/>
          <p:nvPr/>
        </p:nvSpPr>
        <p:spPr>
          <a:xfrm rot="0">
            <a:off x="6836000" y="4685500"/>
            <a:ext cx="22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b" lIns="0" tIns="0" rIns="91440" bIns="45720"/>
          <a:lstStyle/>
          <a:p>
            <a:pPr algn="r"/>
            <a:r>
              <a:rPr lang="zh-CN" sz="1600" dirty="0">
                <a:solidFill>
                  <a:srgbClr val="808080">
                    <a:alpha val="19999"/>
                  </a:srgbClr>
                </a:solidFill>
                <a:latin typeface="Arial"/>
                <a:ea typeface="SimSun"/>
              </a:rPr>
              <a:t>AI 生成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新型信息化工程生产范式</dc:title>
  <dc:subject>本地智能体IDE+云服务器+分布式代码版本控制+自进化智能体+通用大模型</dc:subject>
  <dc:creator>Trae</dc:creator>
  <cp:lastModifiedBy>Trae</cp:lastModifiedBy>
  <cp:revision>1</cp:revision>
  <dcterms:created xsi:type="dcterms:W3CDTF">2026-07-23T03:57:37Z</dcterms:created>
  <dcterms:modified xsi:type="dcterms:W3CDTF">2026-07-23T03:57:37Z</dcterms:modified>
</cp:coreProperties>
</file>